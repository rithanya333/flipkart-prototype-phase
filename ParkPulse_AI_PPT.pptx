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5143500" cy="9144000"/>
  <p:embeddedFontLst>
    <p:embeddedFont>
      <p:font typeface="Arial Black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lj+/3e0ymSkQANJ34Zdki4QiC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213b171b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f213b171b6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213b171b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Relationship Id="rId4" Type="http://schemas.openxmlformats.org/officeDocument/2006/relationships/image" Target="../media/image13.png"/><Relationship Id="rId10" Type="http://schemas.openxmlformats.org/officeDocument/2006/relationships/image" Target="../media/image34.png"/><Relationship Id="rId9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Relationship Id="rId7" Type="http://schemas.openxmlformats.org/officeDocument/2006/relationships/image" Target="../media/image33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8.png"/><Relationship Id="rId4" Type="http://schemas.openxmlformats.org/officeDocument/2006/relationships/image" Target="../media/image33.png"/><Relationship Id="rId5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62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35.png"/><Relationship Id="rId6" Type="http://schemas.openxmlformats.org/officeDocument/2006/relationships/image" Target="../media/image17.png"/><Relationship Id="rId7" Type="http://schemas.openxmlformats.org/officeDocument/2006/relationships/image" Target="../media/image65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8.png"/><Relationship Id="rId10" Type="http://schemas.openxmlformats.org/officeDocument/2006/relationships/image" Target="../media/image17.png"/><Relationship Id="rId13" Type="http://schemas.openxmlformats.org/officeDocument/2006/relationships/image" Target="../media/image70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9.png"/><Relationship Id="rId4" Type="http://schemas.openxmlformats.org/officeDocument/2006/relationships/image" Target="../media/image34.png"/><Relationship Id="rId9" Type="http://schemas.openxmlformats.org/officeDocument/2006/relationships/image" Target="../media/image65.png"/><Relationship Id="rId14" Type="http://schemas.openxmlformats.org/officeDocument/2006/relationships/image" Target="../media/image32.png"/><Relationship Id="rId5" Type="http://schemas.openxmlformats.org/officeDocument/2006/relationships/image" Target="../media/image67.png"/><Relationship Id="rId6" Type="http://schemas.openxmlformats.org/officeDocument/2006/relationships/image" Target="../media/image35.png"/><Relationship Id="rId7" Type="http://schemas.openxmlformats.org/officeDocument/2006/relationships/image" Target="../media/image75.png"/><Relationship Id="rId8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4.png"/><Relationship Id="rId4" Type="http://schemas.openxmlformats.org/officeDocument/2006/relationships/image" Target="../media/image81.png"/><Relationship Id="rId5" Type="http://schemas.openxmlformats.org/officeDocument/2006/relationships/image" Target="../media/image7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5.png"/><Relationship Id="rId4" Type="http://schemas.openxmlformats.org/officeDocument/2006/relationships/image" Target="../media/image9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8.png"/><Relationship Id="rId4" Type="http://schemas.openxmlformats.org/officeDocument/2006/relationships/image" Target="../media/image80.png"/><Relationship Id="rId9" Type="http://schemas.openxmlformats.org/officeDocument/2006/relationships/image" Target="../media/image10.png"/><Relationship Id="rId5" Type="http://schemas.openxmlformats.org/officeDocument/2006/relationships/image" Target="../media/image89.png"/><Relationship Id="rId6" Type="http://schemas.openxmlformats.org/officeDocument/2006/relationships/image" Target="../media/image83.png"/><Relationship Id="rId7" Type="http://schemas.openxmlformats.org/officeDocument/2006/relationships/image" Target="../media/image60.png"/><Relationship Id="rId8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0.png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9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32.png"/><Relationship Id="rId7" Type="http://schemas.openxmlformats.org/officeDocument/2006/relationships/image" Target="../media/image10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108.png"/><Relationship Id="rId5" Type="http://schemas.openxmlformats.org/officeDocument/2006/relationships/image" Target="../media/image16.png"/><Relationship Id="rId6" Type="http://schemas.openxmlformats.org/officeDocument/2006/relationships/image" Target="../media/image27.png"/><Relationship Id="rId7" Type="http://schemas.openxmlformats.org/officeDocument/2006/relationships/image" Target="../media/image100.png"/><Relationship Id="rId8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0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48.png"/><Relationship Id="rId7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111.png"/><Relationship Id="rId5" Type="http://schemas.openxmlformats.org/officeDocument/2006/relationships/image" Target="../media/image105.png"/><Relationship Id="rId6" Type="http://schemas.openxmlformats.org/officeDocument/2006/relationships/image" Target="../media/image1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100.png"/><Relationship Id="rId6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1097280"/>
            <a:ext cx="64008" cy="22860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" y="109728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ParkPulse AI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78308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Transforming Parking Violations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into Urban Mobility Intelligence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2834640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005840" y="27614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FLIPKART GRID 6.0  |  SMART CITY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77240" y="32004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Prototype Phase Submission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128016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48640" y="4663440"/>
            <a:ext cx="73152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Data  →  Intelligence  →  Action  →  Better Mobility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612650" y="4114800"/>
            <a:ext cx="292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By : Rithanya Raj &amp; Anjan Mahapatra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The Urban Mobility Crisis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Illegal parking is not an inconvenience — it is a systemic threat to urban mobility.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18745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48640" y="1874520"/>
            <a:ext cx="246888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0391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051560" y="2011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Congestion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85800" y="237744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Illegal parking reduces effective road width by up to 30%, creating bottlenecks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200400" y="18745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200400" y="1874520"/>
            <a:ext cx="246888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20391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3703320" y="2011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Emergency Delays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337560" y="237744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Blocked corridors delay ambulances and fire trucks by 4-7 minutes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852160" y="18745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852160" y="1874520"/>
            <a:ext cx="246888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9320" y="20391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6355080" y="2011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Productivity Loss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989320" y="237744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India loses $80B+ annually to traffic congestion in major cities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48640" y="32461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48640" y="3246120"/>
            <a:ext cx="246888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4107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1051560" y="3383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Transit Disruption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85800" y="374904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Bus routes diverted, causing cascading delays across public transport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200400" y="32461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200400" y="3246120"/>
            <a:ext cx="246888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7560" y="34107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3703320" y="3383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Economic 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337560" y="374904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Fuel wastage and idle time cost commuters 2-3 hours daily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852160" y="3246120"/>
            <a:ext cx="24688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5852160" y="3246120"/>
            <a:ext cx="246888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89320" y="34107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6355080" y="33832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Public 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989320" y="374904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Pedestrian zones compromised, accident risk increases 2.5x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CURRENT GAPS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Why Current Approaches Fail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2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2A2A"/>
                </a:solidFill>
                <a:latin typeface="Calibri"/>
                <a:ea typeface="Calibri"/>
                <a:cs typeface="Calibri"/>
                <a:sym typeface="Calibri"/>
              </a:rPr>
              <a:t>CURRENT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9202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868680" y="19019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Reactive patrol-based enforcement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3774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868680" y="23591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No hotspot intelligence or 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8346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868680" y="28163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No congestion impact visibility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2918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868680" y="32735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Inefficient resource allocation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749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868680" y="37307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Manual reporting and documentation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2000" y="1508760"/>
            <a:ext cx="18288" cy="274320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7F5B"/>
                </a:solidFill>
                <a:latin typeface="Calibri"/>
                <a:ea typeface="Calibri"/>
                <a:cs typeface="Calibri"/>
                <a:sym typeface="Calibri"/>
              </a:rPr>
              <a:t>WHAT'S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9202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5257800" y="19019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AI-driven proactive enforcement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23774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5257800" y="23591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Predictive hotspot intelligence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28346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5257800" y="28163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Real-time congestion impact 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32918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5257800" y="32735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Data-driven resource 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3749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5257800" y="37307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Automated reporting &amp; briefings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3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114800" y="1325880"/>
            <a:ext cx="914400" cy="1828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1097280" y="1645920"/>
            <a:ext cx="6949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How can AI-driven parking intelligence detect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illegal parking hotspots and quantify their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impact on traffic flow to enable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targeted enforcement?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4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213b171b6_0_2"/>
          <p:cNvSpPr/>
          <p:nvPr/>
        </p:nvSpPr>
        <p:spPr>
          <a:xfrm>
            <a:off x="0" y="0"/>
            <a:ext cx="9144000" cy="456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213b171b6_0_2"/>
          <p:cNvSpPr/>
          <p:nvPr/>
        </p:nvSpPr>
        <p:spPr>
          <a:xfrm>
            <a:off x="457190" y="178375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f213b171b6_0_2"/>
          <p:cNvSpPr/>
          <p:nvPr/>
        </p:nvSpPr>
        <p:spPr>
          <a:xfrm>
            <a:off x="4028209" y="575425"/>
            <a:ext cx="914400" cy="183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213b171b6_0_2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213b171b6_0_2"/>
          <p:cNvSpPr/>
          <p:nvPr/>
        </p:nvSpPr>
        <p:spPr>
          <a:xfrm>
            <a:off x="457200" y="4892040"/>
            <a:ext cx="27432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213b171b6_0_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4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g3f213b171b6_0_2" title="Image_1_FK_Prototy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514" y="544550"/>
            <a:ext cx="8074972" cy="416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MARKET OPPORTUNITY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The Opportunity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48640" y="1508760"/>
            <a:ext cx="19202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48640" y="1508760"/>
            <a:ext cx="192024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685800" y="205740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68%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85800" y="24688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Urban population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by 2050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651760" y="1508760"/>
            <a:ext cx="19202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2651760" y="1508760"/>
            <a:ext cx="192024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892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2788920" y="205740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100+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788920" y="24688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Smart City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Missions globally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754880" y="1508760"/>
            <a:ext cx="19202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754880" y="1508760"/>
            <a:ext cx="192024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04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4892040" y="205740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298K+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892040" y="24688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Records 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our dataset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858000" y="1508760"/>
            <a:ext cx="192024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6858000" y="1508760"/>
            <a:ext cx="192024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516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6995160" y="205740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$15B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995160" y="24688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Smart parking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market by 2030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48640" y="3246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KEY DRIVERS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361188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822960" y="35844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Rapid urbanization outpacing infrastructure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393192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/>
          <p:nvPr/>
        </p:nvSpPr>
        <p:spPr>
          <a:xfrm>
            <a:off x="822960" y="39044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Government push for data-driven governance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2519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/>
          <p:nvPr/>
        </p:nvSpPr>
        <p:spPr>
          <a:xfrm>
            <a:off x="822960" y="4224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Growing IoT and sensor deployment in cities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5720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/>
          <p:nvPr/>
        </p:nvSpPr>
        <p:spPr>
          <a:xfrm>
            <a:off x="822960" y="45445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Need for measurable outcomes in smart city projects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5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INTRODUCING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48640" y="7772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ParkPulse AI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48652" y="1371600"/>
            <a:ext cx="437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AI-powered urban parking intelligence platform that transforms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violation data into actionable enforcement strategies.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7974" y="2194557"/>
            <a:ext cx="4305300" cy="64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7965" y="2194567"/>
            <a:ext cx="45600" cy="6402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565" y="2317295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743765" y="2225855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AI-Powered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43765" y="250017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ML clustering algorithms detect violation hotspots with geospatial precision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7974" y="2971807"/>
            <a:ext cx="4305300" cy="64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57965" y="2971807"/>
            <a:ext cx="45600" cy="6402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565" y="3094535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743765" y="3003095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Impact Quantified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743765" y="327741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Measures congestion impact, capacity loss, and junction criticality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7974" y="3749057"/>
            <a:ext cx="4305300" cy="64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7965" y="3749047"/>
            <a:ext cx="45600" cy="6402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565" y="3871775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/>
          <p:nvPr/>
        </p:nvSpPr>
        <p:spPr>
          <a:xfrm>
            <a:off x="743765" y="3780335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Actionable Intel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43765" y="405465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Generates enforcement briefings and priority recommendations automatically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6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6" title="Image_2_FK_The_Proble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1600" y="2016372"/>
            <a:ext cx="4591826" cy="256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Solution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34340" y="1554480"/>
            <a:ext cx="914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434340" y="1554480"/>
            <a:ext cx="91440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/>
          <p:nvPr/>
        </p:nvSpPr>
        <p:spPr>
          <a:xfrm>
            <a:off x="434340" y="2057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Parking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Violations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348740" y="18745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485900" y="1554480"/>
            <a:ext cx="914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1485900" y="1554480"/>
            <a:ext cx="914400" cy="36576"/>
          </a:xfrm>
          <a:prstGeom prst="rect">
            <a:avLst/>
          </a:prstGeom>
          <a:solidFill>
            <a:srgbClr val="087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594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1485900" y="2057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400300" y="18745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537460" y="1554480"/>
            <a:ext cx="914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2537460" y="1554480"/>
            <a:ext cx="91440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/>
          <p:nvPr/>
        </p:nvSpPr>
        <p:spPr>
          <a:xfrm>
            <a:off x="2537460" y="2057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Geospatial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451860" y="18745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589020" y="1554480"/>
            <a:ext cx="914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3589020" y="1554480"/>
            <a:ext cx="91440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906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/>
          <p:nvPr/>
        </p:nvSpPr>
        <p:spPr>
          <a:xfrm>
            <a:off x="3589020" y="2057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Hotspot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503420" y="18745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640580" y="1554480"/>
            <a:ext cx="914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640580" y="1554480"/>
            <a:ext cx="914400" cy="36576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062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7"/>
          <p:cNvSpPr/>
          <p:nvPr/>
        </p:nvSpPr>
        <p:spPr>
          <a:xfrm>
            <a:off x="4640580" y="2057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Congestion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554980" y="18745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692140" y="1554480"/>
            <a:ext cx="914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692140" y="1554480"/>
            <a:ext cx="91440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1218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"/>
          <p:cNvSpPr/>
          <p:nvPr/>
        </p:nvSpPr>
        <p:spPr>
          <a:xfrm>
            <a:off x="5692140" y="2057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Forecasting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606540" y="18745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743700" y="1554480"/>
            <a:ext cx="914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6743700" y="1554480"/>
            <a:ext cx="91440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6374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/>
          <p:nvPr/>
        </p:nvSpPr>
        <p:spPr>
          <a:xfrm>
            <a:off x="6743700" y="2057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Recommend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7658100" y="18745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7795260" y="1554480"/>
            <a:ext cx="914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7795260" y="1554480"/>
            <a:ext cx="914400" cy="36576"/>
          </a:xfrm>
          <a:prstGeom prst="rect">
            <a:avLst/>
          </a:prstGeom>
          <a:solidFill>
            <a:srgbClr val="087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1530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7"/>
          <p:cNvSpPr/>
          <p:nvPr/>
        </p:nvSpPr>
        <p:spPr>
          <a:xfrm>
            <a:off x="7795260" y="2057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48640" y="28346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End-to-end pipeline from raw violation data to actionable intelligence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48640" y="3291840"/>
            <a:ext cx="1920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48640" y="3291840"/>
            <a:ext cx="192024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640080" y="342900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800"/>
              <a:buFont typeface="Calibri"/>
              <a:buNone/>
            </a:pPr>
            <a:r>
              <a:rPr b="1" i="0" lang="en-US" sz="125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40080" y="37033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MongoDB · Ingestion · Validation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2651760" y="3291840"/>
            <a:ext cx="1920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2651760" y="3291840"/>
            <a:ext cx="192024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2743200" y="342900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800"/>
              <a:buFont typeface="Calibri"/>
              <a:buNone/>
            </a:pPr>
            <a:r>
              <a:rPr b="1" i="0" lang="en-US" sz="12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ANALYTICS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743200" y="37033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DBSCAN · HDBSCAN · K-Means · XGBoost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754880" y="3291840"/>
            <a:ext cx="1920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754880" y="3291840"/>
            <a:ext cx="1920240" cy="36576"/>
          </a:xfrm>
          <a:prstGeom prst="rect">
            <a:avLst/>
          </a:prstGeom>
          <a:solidFill>
            <a:srgbClr val="087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4846320" y="342900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800"/>
              <a:buFont typeface="Calibri"/>
              <a:buNone/>
            </a:pPr>
            <a:r>
              <a:rPr b="1" i="0" lang="en-US" sz="1250" u="none" cap="none" strike="noStrike">
                <a:solidFill>
                  <a:srgbClr val="087F5B"/>
                </a:solidFill>
                <a:latin typeface="Calibri"/>
                <a:ea typeface="Calibri"/>
                <a:cs typeface="Calibri"/>
                <a:sym typeface="Calibri"/>
              </a:rPr>
              <a:t>INTELLIGENCE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846320" y="37033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Congestion Scoring · Capacity · Forecasting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858000" y="3291840"/>
            <a:ext cx="19202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6858000" y="3291840"/>
            <a:ext cx="192024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6949440" y="342900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800"/>
              <a:buFont typeface="Calibri"/>
              <a:buNone/>
            </a:pPr>
            <a:r>
              <a:rPr b="1" i="0" lang="en-US" sz="125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PRESENTATION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949440" y="37033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React · Leaflet Maps · LLM Reports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7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How ParkPulse AI 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48640" y="1508760"/>
            <a:ext cx="393192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640080" y="16002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200"/>
              <a:buFont typeface="Arial Black"/>
              <a:buNone/>
            </a:pPr>
            <a:r>
              <a:rPr b="0" i="0" lang="en-US" sz="22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1188720" y="15819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 Ingestion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1188720" y="189280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Parking violation records from 60+ police stations ingested and validated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48640" y="2560320"/>
            <a:ext cx="393192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640080" y="26517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200"/>
              <a:buFont typeface="Arial Black"/>
              <a:buNone/>
            </a:pPr>
            <a:r>
              <a:rPr b="0" i="0" lang="en-US" sz="22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1188720" y="26334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Geospatial Clustering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1188720" y="294436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DBSCAN &amp; HDBSCAN algorithms identify spatial violation clusters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48640" y="3611880"/>
            <a:ext cx="393192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640080" y="37033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200"/>
              <a:buFont typeface="Arial Black"/>
              <a:buNone/>
            </a:pPr>
            <a:r>
              <a:rPr b="0" i="0" lang="en-US" sz="22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1188720" y="368503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Impact Scoring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1188720" y="399592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Each hotspot scored on density, peak frequency, junction criticality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846320" y="1508760"/>
            <a:ext cx="393192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937760" y="16002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200"/>
              <a:buFont typeface="Arial Black"/>
              <a:buNone/>
            </a:pPr>
            <a:r>
              <a:rPr b="0" i="0" lang="en-US" sz="22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486400" y="15819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Capacity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5486400" y="189280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Lane blockage and throughput reduction quantified per corridor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846320" y="2560320"/>
            <a:ext cx="393192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4937760" y="26517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200"/>
              <a:buFont typeface="Arial Black"/>
              <a:buNone/>
            </a:pPr>
            <a:r>
              <a:rPr b="0" i="0" lang="en-US" sz="22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486400" y="26334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Predictive Forecasting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486400" y="294436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XGBoost models predict hotspot emergence hourly/daily/weekly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846320" y="3611880"/>
            <a:ext cx="3931920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4937760" y="37033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200"/>
              <a:buFont typeface="Arial Black"/>
              <a:buNone/>
            </a:pPr>
            <a:r>
              <a:rPr b="0" i="0" lang="en-US" sz="22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486400" y="368503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 Enforcement Briefing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486400" y="399592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LLM generates prioritized action reports for duty officers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8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Data Pipeline &amp; Engineering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65760" y="1508760"/>
            <a:ext cx="1600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65760" y="1508760"/>
            <a:ext cx="160020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/>
          <p:nvPr/>
        </p:nvSpPr>
        <p:spPr>
          <a:xfrm>
            <a:off x="457200" y="21488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Ingestion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57200" y="251460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298K+ records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457200" y="28346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60+ stations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57200" y="315468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5 months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1965960" y="25603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2103120" y="1508760"/>
            <a:ext cx="1600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2103120" y="1508760"/>
            <a:ext cx="160020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748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9"/>
          <p:cNvSpPr/>
          <p:nvPr/>
        </p:nvSpPr>
        <p:spPr>
          <a:xfrm>
            <a:off x="2194560" y="21488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194560" y="251460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GPS verification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2194560" y="28346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Timestamp audit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194560" y="315468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Duplicate removal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3703320" y="25603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3840480" y="1508760"/>
            <a:ext cx="1600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3840480" y="1508760"/>
            <a:ext cx="160020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484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/>
          <p:nvPr/>
        </p:nvSpPr>
        <p:spPr>
          <a:xfrm>
            <a:off x="3931920" y="21488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Feature Eng.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3931920" y="251460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Spatial encoding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931920" y="28346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Temporal features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3931920" y="315468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Violation typing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440680" y="25603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577840" y="1508760"/>
            <a:ext cx="1600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5577840" y="1508760"/>
            <a:ext cx="160020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9"/>
          <p:cNvSpPr/>
          <p:nvPr/>
        </p:nvSpPr>
        <p:spPr>
          <a:xfrm>
            <a:off x="5669280" y="21488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Spatial Intel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5669280" y="251460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Coordinate mapping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5669280" y="28346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Zone classification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5669280" y="315468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Road segment linking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7178040" y="2560320"/>
            <a:ext cx="137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7315200" y="1508760"/>
            <a:ext cx="1600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7315200" y="1508760"/>
            <a:ext cx="160020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95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9"/>
          <p:cNvSpPr/>
          <p:nvPr/>
        </p:nvSpPr>
        <p:spPr>
          <a:xfrm>
            <a:off x="7406640" y="21488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Intel Generation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7406640" y="251460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Hotspot clusters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7406640" y="283464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Impact scores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7406640" y="3154680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Priority ranking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298,449 Records  ·  60+ Police Stations  ·  5 Months  ·  4 ML Algorithms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9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731520" y="365735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GEOSPATIAL INTELLIGENCE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731515" y="69834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Geospatial Intelligence Engine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79227" y="2507594"/>
            <a:ext cx="2904300" cy="197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2892" rotWithShape="0" algn="bl" dir="8100000" dist="34297">
              <a:srgbClr val="000000">
                <a:alpha val="7058"/>
              </a:srgbClr>
            </a:outerShdw>
          </a:effectLst>
        </p:spPr>
        <p:txBody>
          <a:bodyPr anchorCtr="0" anchor="ctr" bIns="123425" lIns="123425" spcFirstLastPara="1" rIns="123425" wrap="square" tIns="123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 flipH="1" rot="10800000">
            <a:off x="79227" y="2442013"/>
            <a:ext cx="2904300" cy="366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123425" lIns="123425" spcFirstLastPara="1" rIns="123425" wrap="square" tIns="123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166912" y="2579379"/>
            <a:ext cx="29043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890"/>
              <a:buFont typeface="Arial Black"/>
              <a:buNone/>
            </a:pPr>
            <a:r>
              <a:rPr b="0" i="0" lang="en-US" sz="189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DBSCAN</a:t>
            </a:r>
            <a:endParaRPr b="0" i="0" sz="1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109181" y="3133421"/>
            <a:ext cx="2904300" cy="11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15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Density-based spatial clustering. Identifies core violation zones with 80m kernel radius. Parameters: eps=0.001, min_samples=5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2922400" y="1285211"/>
            <a:ext cx="3243000" cy="1886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8268" rotWithShape="0" algn="bl" dir="8100000" dist="32756">
              <a:srgbClr val="000000">
                <a:alpha val="7058"/>
              </a:srgbClr>
            </a:outerShdw>
          </a:effectLst>
        </p:spPr>
        <p:txBody>
          <a:bodyPr anchorCtr="0" anchor="ctr" bIns="117875" lIns="117875" spcFirstLastPara="1" rIns="117875" wrap="square" tIns="11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5"/>
          </a:p>
        </p:txBody>
      </p:sp>
      <p:sp>
        <p:nvSpPr>
          <p:cNvPr id="363" name="Google Shape;363;p10"/>
          <p:cNvSpPr/>
          <p:nvPr/>
        </p:nvSpPr>
        <p:spPr>
          <a:xfrm>
            <a:off x="2951932" y="1196825"/>
            <a:ext cx="3243000" cy="47100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117875" lIns="117875" spcFirstLastPara="1" rIns="117875" wrap="square" tIns="117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5"/>
          </a:p>
        </p:txBody>
      </p:sp>
      <p:sp>
        <p:nvSpPr>
          <p:cNvPr id="364" name="Google Shape;364;p10"/>
          <p:cNvSpPr/>
          <p:nvPr/>
        </p:nvSpPr>
        <p:spPr>
          <a:xfrm>
            <a:off x="3128816" y="1373707"/>
            <a:ext cx="28302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805"/>
              <a:buFont typeface="Arial Black"/>
              <a:buNone/>
            </a:pPr>
            <a:r>
              <a:rPr b="0" i="0" lang="en-US" sz="1805" u="none" cap="none" strike="noStrike">
                <a:solidFill>
                  <a:srgbClr val="0B7285"/>
                </a:solidFill>
                <a:latin typeface="Arial Black"/>
                <a:ea typeface="Arial Black"/>
                <a:cs typeface="Arial Black"/>
                <a:sym typeface="Arial Black"/>
              </a:rPr>
              <a:t>HDBSCAN</a:t>
            </a:r>
            <a:endParaRPr b="0" i="0" sz="18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3128816" y="1874784"/>
            <a:ext cx="28302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61"/>
              <a:buFont typeface="Calibri"/>
              <a:buNone/>
            </a:pPr>
            <a:r>
              <a:rPr b="0" i="0" lang="en-US" sz="1161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Hierarchical density clustering. Handles varying density clusters across urban and suburban zones. No eps parameter needed.</a:t>
            </a:r>
            <a:endParaRPr b="0" i="0" sz="116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082275" y="2629374"/>
            <a:ext cx="2904300" cy="1886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6628" rotWithShape="0" algn="bl" dir="8100000" dist="35543">
              <a:srgbClr val="000000">
                <a:alpha val="7058"/>
              </a:srgbClr>
            </a:outerShdw>
          </a:effectLst>
        </p:spPr>
        <p:txBody>
          <a:bodyPr anchorCtr="0" anchor="ctr" bIns="127950" lIns="127950" spcFirstLastPara="1" rIns="127950" wrap="square" tIns="12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6104325" y="2466975"/>
            <a:ext cx="2904300" cy="47100"/>
          </a:xfrm>
          <a:prstGeom prst="rect">
            <a:avLst/>
          </a:prstGeom>
          <a:solidFill>
            <a:srgbClr val="087F5B"/>
          </a:solidFill>
          <a:ln>
            <a:noFill/>
          </a:ln>
        </p:spPr>
        <p:txBody>
          <a:bodyPr anchorCtr="0" anchor="ctr" bIns="127950" lIns="127950" spcFirstLastPara="1" rIns="127950" wrap="square" tIns="127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6133195" y="2572768"/>
            <a:ext cx="30708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959"/>
              <a:buFont typeface="Arial Black"/>
              <a:buNone/>
            </a:pPr>
            <a:r>
              <a:rPr b="0" i="0" lang="en-US" sz="1959" u="none" cap="none" strike="noStrike">
                <a:solidFill>
                  <a:srgbClr val="087F5B"/>
                </a:solidFill>
                <a:latin typeface="Arial Black"/>
                <a:ea typeface="Arial Black"/>
                <a:cs typeface="Arial Black"/>
                <a:sym typeface="Arial Black"/>
              </a:rPr>
              <a:t>MiniBatch K-Means</a:t>
            </a:r>
            <a:endParaRPr b="0" i="0" sz="19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6165400" y="3088550"/>
            <a:ext cx="2830200" cy="12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59"/>
              <a:buFont typeface="Calibri"/>
              <a:buNone/>
            </a:pPr>
            <a:r>
              <a:rPr b="0" i="0" lang="en-US" sz="1259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Partition-based clustering for scalable hotspot grouping. Optimized for large datasets with mini-batch processing.</a:t>
            </a:r>
            <a:endParaRPr b="0" i="0" sz="1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0" y="4878618"/>
            <a:ext cx="8961000" cy="251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448065" y="4883825"/>
            <a:ext cx="26883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10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IMPACT SCORING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Congestion Impact Intelligence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48640" y="1463040"/>
            <a:ext cx="393192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548640" y="1463040"/>
            <a:ext cx="54864" cy="12344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6002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1"/>
          <p:cNvSpPr/>
          <p:nvPr/>
        </p:nvSpPr>
        <p:spPr>
          <a:xfrm>
            <a:off x="1188720" y="1554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Violation Density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3474720" y="155448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12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Weight: 30%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777240" y="20116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Concentration of violations per sq. km in the hotspot zone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4754880" y="1463040"/>
            <a:ext cx="393192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4754880" y="1463040"/>
            <a:ext cx="54864" cy="1234440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6002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1"/>
          <p:cNvSpPr/>
          <p:nvPr/>
        </p:nvSpPr>
        <p:spPr>
          <a:xfrm>
            <a:off x="5394960" y="15544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Peak Hour Frequency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7680960" y="155448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900"/>
              <a:buFont typeface="Calibri"/>
              <a:buNone/>
            </a:pPr>
            <a:r>
              <a:rPr b="1" i="0" lang="en-US" sz="125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Weight: 25%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4983480" y="20116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Violation frequency during peak traffic hours (8-11 AM, 5-8 PM)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548640" y="2880360"/>
            <a:ext cx="393192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548640" y="2880360"/>
            <a:ext cx="54864" cy="1234440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017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1"/>
          <p:cNvSpPr/>
          <p:nvPr/>
        </p:nvSpPr>
        <p:spPr>
          <a:xfrm>
            <a:off x="1188720" y="2971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Junction Criticality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3474720" y="297180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2A2A"/>
              </a:buClr>
              <a:buSzPts val="900"/>
              <a:buFont typeface="Calibri"/>
              <a:buNone/>
            </a:pPr>
            <a:r>
              <a:rPr b="1" i="0" lang="en-US" sz="1250" u="none" cap="none" strike="noStrike">
                <a:solidFill>
                  <a:srgbClr val="C92A2A"/>
                </a:solidFill>
                <a:latin typeface="Calibri"/>
                <a:ea typeface="Calibri"/>
                <a:cs typeface="Calibri"/>
                <a:sym typeface="Calibri"/>
              </a:rPr>
              <a:t>Weight: 25%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777240" y="34290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Proximity to major intersections and signal-free corridors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4754880" y="2880360"/>
            <a:ext cx="393192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4754880" y="2880360"/>
            <a:ext cx="54864" cy="1234440"/>
          </a:xfrm>
          <a:prstGeom prst="rect">
            <a:avLst/>
          </a:prstGeom>
          <a:solidFill>
            <a:srgbClr val="087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1" name="Google Shape;40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017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1"/>
          <p:cNvSpPr/>
          <p:nvPr/>
        </p:nvSpPr>
        <p:spPr>
          <a:xfrm>
            <a:off x="5394960" y="2971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Repeat Offender Index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7680960" y="2971800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900"/>
              <a:buFont typeface="Calibri"/>
              <a:buNone/>
            </a:pPr>
            <a:r>
              <a:rPr b="1" i="0" lang="en-US" sz="1250" u="none" cap="none" strike="noStrike">
                <a:solidFill>
                  <a:srgbClr val="087F5B"/>
                </a:solidFill>
                <a:latin typeface="Calibri"/>
                <a:ea typeface="Calibri"/>
                <a:cs typeface="Calibri"/>
                <a:sym typeface="Calibri"/>
              </a:rPr>
              <a:t>Weight: 20%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4983480" y="34290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Frequency of repeat violations at the same location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Composite Score = 0.30×Density + 0.25×PeakFreq + 0.25×JunctionCrit + 0.20×RepeatIndex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11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2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CAPACITY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Road Capacity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548640" y="146304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548640" y="1463040"/>
            <a:ext cx="2606040" cy="36576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2"/>
          <p:cNvSpPr/>
          <p:nvPr/>
        </p:nvSpPr>
        <p:spPr>
          <a:xfrm>
            <a:off x="731520" y="21488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Lane Blockage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731520" y="24688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2A2A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C92A2A"/>
                </a:solidFill>
                <a:latin typeface="Arial Black"/>
                <a:ea typeface="Arial Black"/>
                <a:cs typeface="Arial Black"/>
                <a:sym typeface="Arial Black"/>
              </a:rPr>
              <a:t>3.9%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731520" y="301752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Avg Capacity Loss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731520" y="333756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Illegal parking reduces effective lane width, forcing traffic into adjacent lanes and creating merge conflicts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3383280" y="146304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3383280" y="1463040"/>
            <a:ext cx="260604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7" name="Google Shape;42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2"/>
          <p:cNvSpPr/>
          <p:nvPr/>
        </p:nvSpPr>
        <p:spPr>
          <a:xfrm>
            <a:off x="3566160" y="21488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Capacity Degradation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3566160" y="24688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41.3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3566160" y="301752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Avg Impact Score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3566160" y="333756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Composite scoring measures throughput reduction on a 0-100 normalized scale across all monitored corridors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6217920" y="146304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6217920" y="1463040"/>
            <a:ext cx="260604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4" name="Google Shape;43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2"/>
          <p:cNvSpPr/>
          <p:nvPr/>
        </p:nvSpPr>
        <p:spPr>
          <a:xfrm>
            <a:off x="6400800" y="21488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Throughput Reduction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400800" y="246888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0B7285"/>
                </a:solidFill>
                <a:latin typeface="Arial Black"/>
                <a:ea typeface="Arial Black"/>
                <a:cs typeface="Arial Black"/>
                <a:sym typeface="Arial Black"/>
              </a:rPr>
              <a:t>1.1%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400800" y="301752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Lane-Metre-Hours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6400800" y="333756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Quantified loss per 3-lane corridor segment, enabling prioritization of enforcement resources by economic impact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12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PREDICTIVE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Predictive Intelligence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0" y="1463050"/>
            <a:ext cx="2879700" cy="274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4197" rotWithShape="0" algn="bl" dir="8100000" dist="28066">
              <a:srgbClr val="000000">
                <a:alpha val="7058"/>
              </a:srgbClr>
            </a:outerShdw>
          </a:effectLst>
        </p:spPr>
        <p:txBody>
          <a:bodyPr anchorCtr="0" anchor="ctr" bIns="101000" lIns="101000" spcFirstLastPara="1" rIns="101000" wrap="square" tIns="10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0" y="1463050"/>
            <a:ext cx="2879700" cy="552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101000" lIns="101000" spcFirstLastPara="1" rIns="101000" wrap="square" tIns="10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2" name="Google Shape;4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555" y="1738005"/>
            <a:ext cx="303110" cy="412431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3"/>
          <p:cNvSpPr/>
          <p:nvPr/>
        </p:nvSpPr>
        <p:spPr>
          <a:xfrm>
            <a:off x="555702" y="1738005"/>
            <a:ext cx="21216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36"/>
              <a:buFont typeface="Calibri"/>
              <a:buNone/>
            </a:pPr>
            <a:r>
              <a:rPr b="1" i="0" lang="en-US" sz="143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Hourly Forecast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151555" y="2287914"/>
            <a:ext cx="25767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5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Predicts violation intensity for each hour, enabling shift-level resource deployment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151555" y="3250254"/>
            <a:ext cx="25767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884"/>
              <a:buFont typeface="Calibri"/>
              <a:buNone/>
            </a:pPr>
            <a:r>
              <a:rPr b="0" i="1" lang="en-US" sz="12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XGBoost · Station × DOW × Hour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3132140" y="1463050"/>
            <a:ext cx="2879700" cy="274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4197" rotWithShape="0" algn="bl" dir="8100000" dist="28066">
              <a:srgbClr val="000000">
                <a:alpha val="7058"/>
              </a:srgbClr>
            </a:outerShdw>
          </a:effectLst>
        </p:spPr>
        <p:txBody>
          <a:bodyPr anchorCtr="0" anchor="ctr" bIns="101000" lIns="101000" spcFirstLastPara="1" rIns="101000" wrap="square" tIns="10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3132140" y="1463050"/>
            <a:ext cx="2879700" cy="55200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101000" lIns="101000" spcFirstLastPara="1" rIns="101000" wrap="square" tIns="10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8" name="Google Shape;4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3695" y="1738005"/>
            <a:ext cx="303110" cy="412431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3"/>
          <p:cNvSpPr/>
          <p:nvPr/>
        </p:nvSpPr>
        <p:spPr>
          <a:xfrm>
            <a:off x="3687843" y="1738005"/>
            <a:ext cx="21216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36"/>
              <a:buFont typeface="Calibri"/>
              <a:buNone/>
            </a:pPr>
            <a:r>
              <a:rPr b="1" i="0" lang="en-US" sz="143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Daily Forecast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3283695" y="2287914"/>
            <a:ext cx="25767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5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Aggregated daily violation trends for strategic planning and weekly roster optimization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3283695" y="3250254"/>
            <a:ext cx="25767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884"/>
              <a:buFont typeface="Calibri"/>
              <a:buNone/>
            </a:pPr>
            <a:r>
              <a:rPr b="0" i="1" lang="en-US" sz="125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Time Series · Rolling Window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6264281" y="1463050"/>
            <a:ext cx="2879700" cy="274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4197" rotWithShape="0" algn="bl" dir="8100000" dist="28066">
              <a:srgbClr val="000000">
                <a:alpha val="7058"/>
              </a:srgbClr>
            </a:outerShdw>
          </a:effectLst>
        </p:spPr>
        <p:txBody>
          <a:bodyPr anchorCtr="0" anchor="ctr" bIns="101000" lIns="101000" spcFirstLastPara="1" rIns="101000" wrap="square" tIns="10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6264281" y="1463050"/>
            <a:ext cx="2879700" cy="55200"/>
          </a:xfrm>
          <a:prstGeom prst="rect">
            <a:avLst/>
          </a:prstGeom>
          <a:solidFill>
            <a:srgbClr val="087F5B"/>
          </a:solidFill>
          <a:ln>
            <a:noFill/>
          </a:ln>
        </p:spPr>
        <p:txBody>
          <a:bodyPr anchorCtr="0" anchor="ctr" bIns="101000" lIns="101000" spcFirstLastPara="1" rIns="101000" wrap="square" tIns="10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5836" y="1738005"/>
            <a:ext cx="303110" cy="412431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3"/>
          <p:cNvSpPr/>
          <p:nvPr/>
        </p:nvSpPr>
        <p:spPr>
          <a:xfrm>
            <a:off x="6819983" y="1738005"/>
            <a:ext cx="21216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36"/>
              <a:buFont typeface="Calibri"/>
              <a:buNone/>
            </a:pPr>
            <a:r>
              <a:rPr b="1" i="0" lang="en-US" sz="1436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Weekly Forecast</a:t>
            </a:r>
            <a:endParaRPr b="0" i="0" sz="1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6415836" y="2287914"/>
            <a:ext cx="25767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5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Macro-level trend analysis for policy planning and infrastructure investment decisions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6415836" y="3250254"/>
            <a:ext cx="25767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884"/>
              <a:buFont typeface="Calibri"/>
              <a:buNone/>
            </a:pPr>
            <a:r>
              <a:rPr b="0" i="1" lang="en-US" sz="1250" u="none" cap="none" strike="noStrike">
                <a:solidFill>
                  <a:srgbClr val="087F5B"/>
                </a:solidFill>
                <a:latin typeface="Calibri"/>
                <a:ea typeface="Calibri"/>
                <a:cs typeface="Calibri"/>
                <a:sym typeface="Calibri"/>
              </a:rPr>
              <a:t>Trend Decomposition · Seasonal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13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AI ASSISTANT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AI-Powered Enforcement Assistant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80465" y="1495340"/>
            <a:ext cx="3840600" cy="64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4"/>
          <p:cNvSpPr/>
          <p:nvPr/>
        </p:nvSpPr>
        <p:spPr>
          <a:xfrm>
            <a:off x="80465" y="1495340"/>
            <a:ext cx="45600" cy="6402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1" name="Google Shape;4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065" y="16325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4"/>
          <p:cNvSpPr/>
          <p:nvPr/>
        </p:nvSpPr>
        <p:spPr>
          <a:xfrm>
            <a:off x="766265" y="154106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AI-Generated Reports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766265" y="181538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Automated operational briefings synthesized from hotspot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80465" y="2272580"/>
            <a:ext cx="3840600" cy="64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80465" y="2272580"/>
            <a:ext cx="45600" cy="6402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6" name="Google Shape;4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065" y="24097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4"/>
          <p:cNvSpPr/>
          <p:nvPr/>
        </p:nvSpPr>
        <p:spPr>
          <a:xfrm>
            <a:off x="766265" y="231830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Smart Recommendations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766265" y="259262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Priority actions ranked by impact score and resource availability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80465" y="3049820"/>
            <a:ext cx="3840600" cy="64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4"/>
          <p:cNvSpPr/>
          <p:nvPr/>
        </p:nvSpPr>
        <p:spPr>
          <a:xfrm>
            <a:off x="80465" y="3049820"/>
            <a:ext cx="45600" cy="6402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065" y="3186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4"/>
          <p:cNvSpPr/>
          <p:nvPr/>
        </p:nvSpPr>
        <p:spPr>
          <a:xfrm>
            <a:off x="766265" y="309554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Priority Hotspots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766265" y="336986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Top-N zones flagged for immediate enforcement deployment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80465" y="3827060"/>
            <a:ext cx="3840600" cy="64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80465" y="3827060"/>
            <a:ext cx="45600" cy="6402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6" name="Google Shape;4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9065" y="39642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4"/>
          <p:cNvSpPr/>
          <p:nvPr/>
        </p:nvSpPr>
        <p:spPr>
          <a:xfrm>
            <a:off x="766265" y="387278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Risk Assessment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766265" y="4147100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Junction-level risk scoring with congestion propagation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14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14" title="Image_16_Enforcement_Page_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6000" y="1417300"/>
            <a:ext cx="5109574" cy="32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5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PRODUCT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Product Demo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548640" y="146304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workspace/parkpulse_images/Images/Image_8_Executive_Page_1.png" id="512" name="Google Shape;5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54480"/>
            <a:ext cx="242316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3" name="Google Shape;5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5420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5"/>
          <p:cNvSpPr/>
          <p:nvPr/>
        </p:nvSpPr>
        <p:spPr>
          <a:xfrm>
            <a:off x="1005840" y="2514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Executive Command Center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1005840" y="27249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Live KPIs, city-wide overview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3383280" y="146304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workspace/parkpulse_images/Images/Image_11_Hotsmap_Page_1.png" id="517" name="Google Shape;5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4720" y="1554480"/>
            <a:ext cx="242316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18" name="Google Shape;5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20440" y="25420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5"/>
          <p:cNvSpPr/>
          <p:nvPr/>
        </p:nvSpPr>
        <p:spPr>
          <a:xfrm>
            <a:off x="3840480" y="2514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Hotspot Intelligence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3840480" y="27249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Geospatial violation mapping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6217920" y="146304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workspace/parkpulse_images/Images/Image_12_Prediction_Page_1.png" id="522" name="Google Shape;5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0" y="1554480"/>
            <a:ext cx="242316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3" name="Google Shape;5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5080" y="25420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5"/>
          <p:cNvSpPr/>
          <p:nvPr/>
        </p:nvSpPr>
        <p:spPr>
          <a:xfrm>
            <a:off x="6675120" y="2514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Predictive Analytics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6675120" y="272491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Hourly/daily/weekly forecasts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548640" y="315468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workspace/parkpulse_images/Images/Image_16_Enforcement_Page_1.png" id="527" name="Google Shape;5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" y="3246120"/>
            <a:ext cx="242316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8" name="Google Shape;5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5800" y="42336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5"/>
          <p:cNvSpPr/>
          <p:nvPr/>
        </p:nvSpPr>
        <p:spPr>
          <a:xfrm>
            <a:off x="1005840" y="42062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Enforcement Intel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1005840" y="441655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AI briefings &amp; prioritization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3383280" y="315468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workspace/parkpulse_images/Images/Image_18_Analytics_Page_1.png" id="532" name="Google Shape;53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474720" y="3246120"/>
            <a:ext cx="242316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3" name="Google Shape;53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520440" y="42336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5"/>
          <p:cNvSpPr/>
          <p:nvPr/>
        </p:nvSpPr>
        <p:spPr>
          <a:xfrm>
            <a:off x="3840480" y="42062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Analytics Module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3840480" y="441655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Deep-dive data exploration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6217920" y="315468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workspace/parkpulse_images/Images/Image_21_Simulator_Page_1.png" id="537" name="Google Shape;53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09360" y="3246120"/>
            <a:ext cx="242316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8" name="Google Shape;538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55080" y="42336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5"/>
          <p:cNvSpPr/>
          <p:nvPr/>
        </p:nvSpPr>
        <p:spPr>
          <a:xfrm>
            <a:off x="6675120" y="42062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Scenario Simulator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6675120" y="441655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Intervention planning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15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6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6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MODULE: EXECUTIVE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Executive Command Center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548640" y="1270729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Real-time operational KPIs for city-wide parking pressure monitoring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5852160" y="1691640"/>
            <a:ext cx="29260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6"/>
          <p:cNvSpPr/>
          <p:nvPr/>
        </p:nvSpPr>
        <p:spPr>
          <a:xfrm>
            <a:off x="5852160" y="1691640"/>
            <a:ext cx="36576" cy="41148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6"/>
          <p:cNvSpPr/>
          <p:nvPr/>
        </p:nvSpPr>
        <p:spPr>
          <a:xfrm>
            <a:off x="5989320" y="16916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600"/>
              <a:buFont typeface="Arial Black"/>
              <a:buNone/>
            </a:pPr>
            <a:r>
              <a:rPr b="0" i="0" lang="en-US" sz="125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60K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6949440" y="16916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Total Violations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5852160" y="2194560"/>
            <a:ext cx="29260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6"/>
          <p:cNvSpPr/>
          <p:nvPr/>
        </p:nvSpPr>
        <p:spPr>
          <a:xfrm>
            <a:off x="5852160" y="2194560"/>
            <a:ext cx="36576" cy="411480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5989320" y="219456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600"/>
              <a:buFont typeface="Arial Black"/>
              <a:buNone/>
            </a:pPr>
            <a:r>
              <a:rPr b="0" i="0" lang="en-US" sz="1250" u="none" cap="none" strike="noStrike">
                <a:solidFill>
                  <a:srgbClr val="0B7285"/>
                </a:solidFill>
                <a:latin typeface="Arial Black"/>
                <a:ea typeface="Arial Black"/>
                <a:cs typeface="Arial Black"/>
                <a:sym typeface="Arial Black"/>
              </a:rPr>
              <a:t>250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6949440" y="219456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Active Hotspots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5852160" y="2697480"/>
            <a:ext cx="29260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6"/>
          <p:cNvSpPr/>
          <p:nvPr/>
        </p:nvSpPr>
        <p:spPr>
          <a:xfrm>
            <a:off x="5852160" y="2697480"/>
            <a:ext cx="36576" cy="411480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6"/>
          <p:cNvSpPr/>
          <p:nvPr/>
        </p:nvSpPr>
        <p:spPr>
          <a:xfrm>
            <a:off x="5989320" y="269748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2A2A"/>
              </a:buClr>
              <a:buSzPts val="1600"/>
              <a:buFont typeface="Arial Black"/>
              <a:buNone/>
            </a:pPr>
            <a:r>
              <a:rPr b="0" i="0" lang="en-US" sz="1250" u="none" cap="none" strike="noStrike">
                <a:solidFill>
                  <a:srgbClr val="C92A2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6949440" y="269748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Critical Zones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5852160" y="3200400"/>
            <a:ext cx="29260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6"/>
          <p:cNvSpPr/>
          <p:nvPr/>
        </p:nvSpPr>
        <p:spPr>
          <a:xfrm>
            <a:off x="5852160" y="3200400"/>
            <a:ext cx="36576" cy="41148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5989320" y="32004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600"/>
              <a:buFont typeface="Arial Black"/>
              <a:buNone/>
            </a:pPr>
            <a:r>
              <a:rPr b="0" i="0" lang="en-US" sz="125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41.3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6949440" y="32004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Avg Impact Score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5852160" y="3703320"/>
            <a:ext cx="29260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6"/>
          <p:cNvSpPr/>
          <p:nvPr/>
        </p:nvSpPr>
        <p:spPr>
          <a:xfrm>
            <a:off x="5852160" y="3703320"/>
            <a:ext cx="36576" cy="411480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6"/>
          <p:cNvSpPr/>
          <p:nvPr/>
        </p:nvSpPr>
        <p:spPr>
          <a:xfrm>
            <a:off x="5989320" y="370332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2A2A"/>
              </a:buClr>
              <a:buSzPts val="1600"/>
              <a:buFont typeface="Arial Black"/>
              <a:buNone/>
            </a:pPr>
            <a:r>
              <a:rPr b="0" i="0" lang="en-US" sz="1250" u="none" cap="none" strike="noStrike">
                <a:solidFill>
                  <a:srgbClr val="C92A2A"/>
                </a:solidFill>
                <a:latin typeface="Arial Black"/>
                <a:ea typeface="Arial Black"/>
                <a:cs typeface="Arial Black"/>
                <a:sym typeface="Arial Black"/>
              </a:rPr>
              <a:t>3.9%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6949440" y="370332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Capacity Loss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5852160" y="4206240"/>
            <a:ext cx="292608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5852160" y="4206240"/>
            <a:ext cx="36576" cy="411480"/>
          </a:xfrm>
          <a:prstGeom prst="rect">
            <a:avLst/>
          </a:prstGeom>
          <a:solidFill>
            <a:srgbClr val="087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5989320" y="42062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600"/>
              <a:buFont typeface="Arial Black"/>
              <a:buNone/>
            </a:pPr>
            <a:r>
              <a:rPr b="0" i="0" lang="en-US" sz="1250" u="none" cap="none" strike="noStrike">
                <a:solidFill>
                  <a:srgbClr val="087F5B"/>
                </a:solidFill>
                <a:latin typeface="Arial Black"/>
                <a:ea typeface="Arial Black"/>
                <a:cs typeface="Arial Black"/>
                <a:sym typeface="Arial Black"/>
              </a:rPr>
              <a:t>70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6949440" y="42062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Predicted Hot (24H)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16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0" name="Google Shape;580;p16" title="Image_8_Executive_Pag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88" y="1600200"/>
            <a:ext cx="5625379" cy="32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7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7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MODULE: HOTSPOTS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Hotspot Intelligence Module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Geospatial analytics powered by DBSCAN, HDBSCAN &amp; MiniBatch K-Means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workspace/parkpulse_images/Images/Image_11_Hotsmap_Page_1.png" id="590" name="Google Shape;5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804672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7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17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8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8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MODULE: PREDICTIONS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Predictive Analytics Module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XGBoost-powered forecasting across hourly, daily, and weekly horizons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workspace/parkpulse_images/Images/Image_13_Prediction_1a.png" id="603" name="Google Shape;6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256032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workspace/parkpulse_images/Images/Image_14_Prediction_1b.png" id="604" name="Google Shape;6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1691640"/>
            <a:ext cx="256032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workspace/parkpulse_images/Images/Image_15_Prediction_Page_2.png" id="605" name="Google Shape;60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5040" y="1691640"/>
            <a:ext cx="256032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8"/>
          <p:cNvSpPr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8"/>
          <p:cNvSpPr/>
          <p:nvPr/>
        </p:nvSpPr>
        <p:spPr>
          <a:xfrm>
            <a:off x="731520" y="35661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12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PREDICTIVE INSIGHTS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Hourly granularity: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Pinpoint exact hours for patrol deployment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Station-level forecasting: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Per-police-station violation predictions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Day-of-week patterns: </a:t>
            </a: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Weekday vs weekend violation behavior modeling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8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18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9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9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MODULE: ENFORCEMENT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Enforcement Intelligence Module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9"/>
          <p:cNvSpPr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AI-generated enforcement briefings with prioritized action items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workspace/parkpulse_images/Images/Image_16_Enforcement_Page_1.png" id="621" name="Google Shape;6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384048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workspace/parkpulse_images/Images/Image_17_Enforcement_AI_Brief_Page_2.png" id="622" name="Google Shape;6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691640"/>
            <a:ext cx="41148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9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19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0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MODULE: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Analytics Module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Deep-dive data exploration and decision-support analytics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workspace/parkpulse_images/Images/Image_18_Analytics_Page_1.png" id="635" name="Google Shape;6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256032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workspace/parkpulse_images/Images/Image_19_Analytics_Page_2.png" id="636" name="Google Shape;6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840" y="1691640"/>
            <a:ext cx="256032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workspace/parkpulse_images/Images/Image_20_Analytics_Page_3.png" id="637" name="Google Shape;6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5040" y="1691640"/>
            <a:ext cx="256032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0"/>
          <p:cNvSpPr/>
          <p:nvPr/>
        </p:nvSpPr>
        <p:spPr>
          <a:xfrm>
            <a:off x="548640" y="352044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9" name="Google Shape;63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36118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0"/>
          <p:cNvSpPr/>
          <p:nvPr/>
        </p:nvSpPr>
        <p:spPr>
          <a:xfrm>
            <a:off x="960120" y="361188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Violation distribution by type and zone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2651760" y="352044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2" name="Google Shape;64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3200" y="36118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0"/>
          <p:cNvSpPr/>
          <p:nvPr/>
        </p:nvSpPr>
        <p:spPr>
          <a:xfrm>
            <a:off x="3063240" y="361188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Temporal trend analysis with drill-down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4754880" y="352044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5" name="Google Shape;64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46320" y="36118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0"/>
          <p:cNvSpPr/>
          <p:nvPr/>
        </p:nvSpPr>
        <p:spPr>
          <a:xfrm>
            <a:off x="5166360" y="361188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Station-wise comparative performance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6858000" y="352044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8" name="Google Shape;64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49440" y="36118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0"/>
          <p:cNvSpPr/>
          <p:nvPr/>
        </p:nvSpPr>
        <p:spPr>
          <a:xfrm>
            <a:off x="7269480" y="361188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Correlation: violations vs congestion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0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20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1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1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MODULE: SIMULATOR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1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Scenario Simulator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548640" y="129359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Model intervention outcomes before deploying resources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workspace/parkpulse_images/Images/Image_21_Simulator_Page_1.png" id="662" name="Google Shape;6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50" y="1600200"/>
            <a:ext cx="5754773" cy="31775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3" name="Google Shape;6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178308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21"/>
          <p:cNvSpPr/>
          <p:nvPr/>
        </p:nvSpPr>
        <p:spPr>
          <a:xfrm>
            <a:off x="6263640" y="175564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What-if analysis for enforcement scenarios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5" name="Google Shape;66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2860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1"/>
          <p:cNvSpPr/>
          <p:nvPr/>
        </p:nvSpPr>
        <p:spPr>
          <a:xfrm>
            <a:off x="6263640" y="225856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Resource allocation optimization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7" name="Google Shape;6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7889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21"/>
          <p:cNvSpPr/>
          <p:nvPr/>
        </p:nvSpPr>
        <p:spPr>
          <a:xfrm>
            <a:off x="6263640" y="27614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Impact projection modeling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9" name="Google Shape;6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32918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21"/>
          <p:cNvSpPr/>
          <p:nvPr/>
        </p:nvSpPr>
        <p:spPr>
          <a:xfrm>
            <a:off x="6263640" y="32644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Before/after comparison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1" name="Google Shape;67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37947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21"/>
          <p:cNvSpPr/>
          <p:nvPr/>
        </p:nvSpPr>
        <p:spPr>
          <a:xfrm>
            <a:off x="6263640" y="37673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ROI estimation for interventions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1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21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2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2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MODULE: DATA INGESTION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Data Ingestion Module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1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Automated pipeline for multi-source violation data processing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workspace/parkpulse_images/Images/Image_22_Ingest_Page_1.png" id="685" name="Google Shape;6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623" y="1678312"/>
            <a:ext cx="5118466" cy="3071063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22"/>
          <p:cNvSpPr/>
          <p:nvPr/>
        </p:nvSpPr>
        <p:spPr>
          <a:xfrm>
            <a:off x="5394950" y="1691651"/>
            <a:ext cx="3383400" cy="609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7" name="Google Shape;6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2120" y="18013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2"/>
          <p:cNvSpPr/>
          <p:nvPr/>
        </p:nvSpPr>
        <p:spPr>
          <a:xfrm>
            <a:off x="5943600" y="1695947"/>
            <a:ext cx="256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Source Integration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2"/>
          <p:cNvSpPr/>
          <p:nvPr/>
        </p:nvSpPr>
        <p:spPr>
          <a:xfrm>
            <a:off x="5943600" y="19659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Connect to 60+ police station databases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5394950" y="2377450"/>
            <a:ext cx="3383400" cy="609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1" name="Google Shape;69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2120" y="2487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22"/>
          <p:cNvSpPr/>
          <p:nvPr/>
        </p:nvSpPr>
        <p:spPr>
          <a:xfrm>
            <a:off x="5943600" y="2392100"/>
            <a:ext cx="256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Validation Layer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2"/>
          <p:cNvSpPr/>
          <p:nvPr/>
        </p:nvSpPr>
        <p:spPr>
          <a:xfrm>
            <a:off x="5943600" y="26517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GPS, timestamp, and format verification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5394950" y="3063252"/>
            <a:ext cx="3383400" cy="609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5" name="Google Shape;69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2120" y="31729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22"/>
          <p:cNvSpPr/>
          <p:nvPr/>
        </p:nvSpPr>
        <p:spPr>
          <a:xfrm>
            <a:off x="5943600" y="3067547"/>
            <a:ext cx="256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Transformation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2"/>
          <p:cNvSpPr/>
          <p:nvPr/>
        </p:nvSpPr>
        <p:spPr>
          <a:xfrm>
            <a:off x="5943600" y="33375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Feature engineering and spatial encoding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2"/>
          <p:cNvSpPr/>
          <p:nvPr/>
        </p:nvSpPr>
        <p:spPr>
          <a:xfrm>
            <a:off x="5394950" y="3749050"/>
            <a:ext cx="3383400" cy="609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9" name="Google Shape;69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32120" y="38587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22"/>
          <p:cNvSpPr/>
          <p:nvPr/>
        </p:nvSpPr>
        <p:spPr>
          <a:xfrm>
            <a:off x="5943600" y="3753347"/>
            <a:ext cx="256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2"/>
          <p:cNvSpPr/>
          <p:nvPr/>
        </p:nvSpPr>
        <p:spPr>
          <a:xfrm>
            <a:off x="5943600" y="40233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MongoDB with indexed geospatial queries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22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2"/>
          <p:cNvSpPr/>
          <p:nvPr/>
        </p:nvSpPr>
        <p:spPr>
          <a:xfrm>
            <a:off x="8046720" y="486517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22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3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3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Technical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3"/>
          <p:cNvSpPr/>
          <p:nvPr/>
        </p:nvSpPr>
        <p:spPr>
          <a:xfrm>
            <a:off x="548640" y="146304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3"/>
          <p:cNvSpPr/>
          <p:nvPr/>
        </p:nvSpPr>
        <p:spPr>
          <a:xfrm>
            <a:off x="548640" y="1463040"/>
            <a:ext cx="260604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5" name="Google Shape;7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23"/>
          <p:cNvSpPr/>
          <p:nvPr/>
        </p:nvSpPr>
        <p:spPr>
          <a:xfrm>
            <a:off x="1097280" y="1600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3"/>
          <p:cNvSpPr/>
          <p:nvPr/>
        </p:nvSpPr>
        <p:spPr>
          <a:xfrm>
            <a:off x="685800" y="20574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React.js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3"/>
          <p:cNvSpPr/>
          <p:nvPr/>
        </p:nvSpPr>
        <p:spPr>
          <a:xfrm>
            <a:off x="685800" y="2286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Leaflet Maps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3"/>
          <p:cNvSpPr/>
          <p:nvPr/>
        </p:nvSpPr>
        <p:spPr>
          <a:xfrm>
            <a:off x="685800" y="2514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Dark Theme UI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3383280" y="146304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3"/>
          <p:cNvSpPr/>
          <p:nvPr/>
        </p:nvSpPr>
        <p:spPr>
          <a:xfrm>
            <a:off x="3383280" y="1463040"/>
            <a:ext cx="260604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2" name="Google Shape;7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4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23"/>
          <p:cNvSpPr/>
          <p:nvPr/>
        </p:nvSpPr>
        <p:spPr>
          <a:xfrm>
            <a:off x="3931920" y="1600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3"/>
          <p:cNvSpPr/>
          <p:nvPr/>
        </p:nvSpPr>
        <p:spPr>
          <a:xfrm>
            <a:off x="3520440" y="20574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3"/>
          <p:cNvSpPr/>
          <p:nvPr/>
        </p:nvSpPr>
        <p:spPr>
          <a:xfrm>
            <a:off x="3520440" y="2286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3"/>
          <p:cNvSpPr/>
          <p:nvPr/>
        </p:nvSpPr>
        <p:spPr>
          <a:xfrm>
            <a:off x="3520440" y="2514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REST APIs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3"/>
          <p:cNvSpPr/>
          <p:nvPr/>
        </p:nvSpPr>
        <p:spPr>
          <a:xfrm>
            <a:off x="6217920" y="146304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3"/>
          <p:cNvSpPr/>
          <p:nvPr/>
        </p:nvSpPr>
        <p:spPr>
          <a:xfrm>
            <a:off x="6217920" y="1463040"/>
            <a:ext cx="260604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9" name="Google Shape;72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508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3"/>
          <p:cNvSpPr/>
          <p:nvPr/>
        </p:nvSpPr>
        <p:spPr>
          <a:xfrm>
            <a:off x="6766560" y="1600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6355080" y="20574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3"/>
          <p:cNvSpPr/>
          <p:nvPr/>
        </p:nvSpPr>
        <p:spPr>
          <a:xfrm>
            <a:off x="6355080" y="2286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Geospatial Index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6355080" y="2514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Time-series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548640" y="315468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3"/>
          <p:cNvSpPr/>
          <p:nvPr/>
        </p:nvSpPr>
        <p:spPr>
          <a:xfrm>
            <a:off x="548640" y="3154680"/>
            <a:ext cx="260604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6" name="Google Shape;7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337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23"/>
          <p:cNvSpPr/>
          <p:nvPr/>
        </p:nvSpPr>
        <p:spPr>
          <a:xfrm>
            <a:off x="109728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ML /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685800" y="3749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DBSCAN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685800" y="39776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HDBSCAN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3"/>
          <p:cNvSpPr/>
          <p:nvPr/>
        </p:nvSpPr>
        <p:spPr>
          <a:xfrm>
            <a:off x="685800" y="42062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MiniBatch K-Means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3"/>
          <p:cNvSpPr/>
          <p:nvPr/>
        </p:nvSpPr>
        <p:spPr>
          <a:xfrm>
            <a:off x="685800" y="44348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3383280" y="315468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3"/>
          <p:cNvSpPr/>
          <p:nvPr/>
        </p:nvSpPr>
        <p:spPr>
          <a:xfrm>
            <a:off x="3383280" y="3154680"/>
            <a:ext cx="2606040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4" name="Google Shape;74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20440" y="3337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23"/>
          <p:cNvSpPr/>
          <p:nvPr/>
        </p:nvSpPr>
        <p:spPr>
          <a:xfrm>
            <a:off x="393192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AI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3520440" y="3749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LLM-Powered Reporting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3520440" y="39776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Natural Language Briefs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6217920" y="3154680"/>
            <a:ext cx="26060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3"/>
          <p:cNvSpPr/>
          <p:nvPr/>
        </p:nvSpPr>
        <p:spPr>
          <a:xfrm>
            <a:off x="6217920" y="3154680"/>
            <a:ext cx="2606040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0" name="Google Shape;75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5080" y="3337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23"/>
          <p:cNvSpPr/>
          <p:nvPr/>
        </p:nvSpPr>
        <p:spPr>
          <a:xfrm>
            <a:off x="6766560" y="3291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MAPS &amp; GEO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6355080" y="37490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Leaflet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3"/>
          <p:cNvSpPr/>
          <p:nvPr/>
        </p:nvSpPr>
        <p:spPr>
          <a:xfrm>
            <a:off x="6355080" y="39776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GeoJSON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6355080" y="42062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Spatial Clustering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3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23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4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4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4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Business Impact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4"/>
          <p:cNvSpPr/>
          <p:nvPr/>
        </p:nvSpPr>
        <p:spPr>
          <a:xfrm>
            <a:off x="365760" y="1463040"/>
            <a:ext cx="1572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4"/>
          <p:cNvSpPr/>
          <p:nvPr/>
        </p:nvSpPr>
        <p:spPr>
          <a:xfrm>
            <a:off x="365760" y="1463040"/>
            <a:ext cx="1572768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8" name="Google Shape;76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24"/>
          <p:cNvSpPr/>
          <p:nvPr/>
        </p:nvSpPr>
        <p:spPr>
          <a:xfrm>
            <a:off x="457200" y="2103120"/>
            <a:ext cx="1389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10x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4"/>
          <p:cNvSpPr/>
          <p:nvPr/>
        </p:nvSpPr>
        <p:spPr>
          <a:xfrm>
            <a:off x="457200" y="2606040"/>
            <a:ext cx="1389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Faster Hotspot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Identification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4"/>
          <p:cNvSpPr/>
          <p:nvPr/>
        </p:nvSpPr>
        <p:spPr>
          <a:xfrm>
            <a:off x="2084832" y="1463040"/>
            <a:ext cx="1572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4"/>
          <p:cNvSpPr/>
          <p:nvPr/>
        </p:nvSpPr>
        <p:spPr>
          <a:xfrm>
            <a:off x="2084832" y="1463040"/>
            <a:ext cx="1572768" cy="36576"/>
          </a:xfrm>
          <a:prstGeom prst="rect">
            <a:avLst/>
          </a:pr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3" name="Google Shape;77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3472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24"/>
          <p:cNvSpPr/>
          <p:nvPr/>
        </p:nvSpPr>
        <p:spPr>
          <a:xfrm>
            <a:off x="2176272" y="2103120"/>
            <a:ext cx="1389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0B7285"/>
                </a:solidFill>
                <a:latin typeface="Arial Black"/>
                <a:ea typeface="Arial Black"/>
                <a:cs typeface="Arial Black"/>
                <a:sym typeface="Arial Black"/>
              </a:rPr>
              <a:t>40%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4"/>
          <p:cNvSpPr/>
          <p:nvPr/>
        </p:nvSpPr>
        <p:spPr>
          <a:xfrm>
            <a:off x="2176272" y="2606040"/>
            <a:ext cx="1389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Better Enforcement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4"/>
          <p:cNvSpPr/>
          <p:nvPr/>
        </p:nvSpPr>
        <p:spPr>
          <a:xfrm>
            <a:off x="3803904" y="1463040"/>
            <a:ext cx="1572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4"/>
          <p:cNvSpPr/>
          <p:nvPr/>
        </p:nvSpPr>
        <p:spPr>
          <a:xfrm>
            <a:off x="3803904" y="1463040"/>
            <a:ext cx="1572768" cy="36576"/>
          </a:xfrm>
          <a:prstGeom prst="rect">
            <a:avLst/>
          </a:prstGeom>
          <a:solidFill>
            <a:srgbClr val="087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8" name="Google Shape;7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544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24"/>
          <p:cNvSpPr/>
          <p:nvPr/>
        </p:nvSpPr>
        <p:spPr>
          <a:xfrm>
            <a:off x="3895344" y="2103120"/>
            <a:ext cx="1389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087F5B"/>
                </a:solidFill>
                <a:latin typeface="Arial Black"/>
                <a:ea typeface="Arial Black"/>
                <a:cs typeface="Arial Black"/>
                <a:sym typeface="Arial Black"/>
              </a:rPr>
              <a:t>30%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4"/>
          <p:cNvSpPr/>
          <p:nvPr/>
        </p:nvSpPr>
        <p:spPr>
          <a:xfrm>
            <a:off x="3895344" y="2606040"/>
            <a:ext cx="1389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Reduced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Congestion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5522976" y="1463040"/>
            <a:ext cx="1572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4"/>
          <p:cNvSpPr/>
          <p:nvPr/>
        </p:nvSpPr>
        <p:spPr>
          <a:xfrm>
            <a:off x="5522976" y="1463040"/>
            <a:ext cx="1572768" cy="36576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3" name="Google Shape;78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1616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24"/>
          <p:cNvSpPr/>
          <p:nvPr/>
        </p:nvSpPr>
        <p:spPr>
          <a:xfrm>
            <a:off x="5614416" y="2103120"/>
            <a:ext cx="1389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E8590C"/>
                </a:solidFill>
                <a:latin typeface="Arial Black"/>
                <a:ea typeface="Arial Black"/>
                <a:cs typeface="Arial Black"/>
                <a:sym typeface="Arial Black"/>
              </a:rPr>
              <a:t>25%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4"/>
          <p:cNvSpPr/>
          <p:nvPr/>
        </p:nvSpPr>
        <p:spPr>
          <a:xfrm>
            <a:off x="5614416" y="2606040"/>
            <a:ext cx="1389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Improved Roadway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Utilization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4"/>
          <p:cNvSpPr/>
          <p:nvPr/>
        </p:nvSpPr>
        <p:spPr>
          <a:xfrm>
            <a:off x="7242048" y="1463040"/>
            <a:ext cx="1572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4"/>
          <p:cNvSpPr/>
          <p:nvPr/>
        </p:nvSpPr>
        <p:spPr>
          <a:xfrm>
            <a:off x="7242048" y="1463040"/>
            <a:ext cx="1572768" cy="36576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8" name="Google Shape;78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0688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24"/>
          <p:cNvSpPr/>
          <p:nvPr/>
        </p:nvSpPr>
        <p:spPr>
          <a:xfrm>
            <a:off x="7333488" y="2103120"/>
            <a:ext cx="1389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2A2A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C92A2A"/>
                </a:solidFill>
                <a:latin typeface="Arial Black"/>
                <a:ea typeface="Arial Black"/>
                <a:cs typeface="Arial Black"/>
                <a:sym typeface="Arial Black"/>
              </a:rPr>
              <a:t>3x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4"/>
          <p:cNvSpPr/>
          <p:nvPr/>
        </p:nvSpPr>
        <p:spPr>
          <a:xfrm>
            <a:off x="7333488" y="2606040"/>
            <a:ext cx="13898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Faster Emergency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4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4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Enabling data-driven governance for smarter, safer, more efficient cities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4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24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5"/>
          <p:cNvSpPr/>
          <p:nvPr/>
        </p:nvSpPr>
        <p:spPr>
          <a:xfrm>
            <a:off x="548640" y="365760"/>
            <a:ext cx="54864" cy="32004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5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FUTURE VISION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5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The Road Ahead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777240" y="1600200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5"/>
          <p:cNvSpPr/>
          <p:nvPr/>
        </p:nvSpPr>
        <p:spPr>
          <a:xfrm>
            <a:off x="850392" y="1828800"/>
            <a:ext cx="36576" cy="5486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5"/>
          <p:cNvSpPr/>
          <p:nvPr/>
        </p:nvSpPr>
        <p:spPr>
          <a:xfrm>
            <a:off x="1188720" y="146304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5"/>
          <p:cNvSpPr/>
          <p:nvPr/>
        </p:nvSpPr>
        <p:spPr>
          <a:xfrm>
            <a:off x="2286000" y="1463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City-Scale Digital Twin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5"/>
          <p:cNvSpPr/>
          <p:nvPr/>
        </p:nvSpPr>
        <p:spPr>
          <a:xfrm>
            <a:off x="2286000" y="1783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Full 3D mapping of parking infrastructure with real-time sensor integration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9" name="Google Shape;80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508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25"/>
          <p:cNvSpPr/>
          <p:nvPr/>
        </p:nvSpPr>
        <p:spPr>
          <a:xfrm>
            <a:off x="777240" y="2423160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B72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5"/>
          <p:cNvSpPr/>
          <p:nvPr/>
        </p:nvSpPr>
        <p:spPr>
          <a:xfrm>
            <a:off x="850392" y="2651760"/>
            <a:ext cx="36576" cy="5486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5"/>
          <p:cNvSpPr/>
          <p:nvPr/>
        </p:nvSpPr>
        <p:spPr>
          <a:xfrm>
            <a:off x="1188720" y="22860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5"/>
          <p:cNvSpPr/>
          <p:nvPr/>
        </p:nvSpPr>
        <p:spPr>
          <a:xfrm>
            <a:off x="2286000" y="2286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Real-Time Intelligence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5"/>
          <p:cNvSpPr/>
          <p:nvPr/>
        </p:nvSpPr>
        <p:spPr>
          <a:xfrm>
            <a:off x="2286000" y="2606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IoT sensor fusion for live violation detection and instant alerting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5" name="Google Shape;8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331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25"/>
          <p:cNvSpPr/>
          <p:nvPr/>
        </p:nvSpPr>
        <p:spPr>
          <a:xfrm>
            <a:off x="777240" y="3246120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87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5"/>
          <p:cNvSpPr/>
          <p:nvPr/>
        </p:nvSpPr>
        <p:spPr>
          <a:xfrm>
            <a:off x="850392" y="3474720"/>
            <a:ext cx="36576" cy="5486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5"/>
          <p:cNvSpPr/>
          <p:nvPr/>
        </p:nvSpPr>
        <p:spPr>
          <a:xfrm>
            <a:off x="1188720" y="310896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87F5B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5"/>
          <p:cNvSpPr/>
          <p:nvPr/>
        </p:nvSpPr>
        <p:spPr>
          <a:xfrm>
            <a:off x="2286000" y="3108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Integrated Traffic Management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5"/>
          <p:cNvSpPr/>
          <p:nvPr/>
        </p:nvSpPr>
        <p:spPr>
          <a:xfrm>
            <a:off x="2286000" y="3429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Unified platform connecting parking, signals, and emergency response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1" name="Google Shape;82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3154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25"/>
          <p:cNvSpPr/>
          <p:nvPr/>
        </p:nvSpPr>
        <p:spPr>
          <a:xfrm>
            <a:off x="777240" y="4069080"/>
            <a:ext cx="182880" cy="1828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5"/>
          <p:cNvSpPr/>
          <p:nvPr/>
        </p:nvSpPr>
        <p:spPr>
          <a:xfrm>
            <a:off x="1188720" y="39319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5"/>
          <p:cNvSpPr/>
          <p:nvPr/>
        </p:nvSpPr>
        <p:spPr>
          <a:xfrm>
            <a:off x="2286000" y="3931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Smart Mobility Command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5"/>
          <p:cNvSpPr/>
          <p:nvPr/>
        </p:nvSpPr>
        <p:spPr>
          <a:xfrm>
            <a:off x="2286000" y="4251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Autonomous enforcement coordination across city departments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6" name="Google Shape;82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3977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5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25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6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6"/>
          <p:cNvSpPr/>
          <p:nvPr/>
        </p:nvSpPr>
        <p:spPr>
          <a:xfrm>
            <a:off x="548640" y="7315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0" i="0" lang="en-US" sz="18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WHY PARKPULSE AI MATTERS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6"/>
          <p:cNvSpPr/>
          <p:nvPr/>
        </p:nvSpPr>
        <p:spPr>
          <a:xfrm>
            <a:off x="960120" y="1371600"/>
            <a:ext cx="1005840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1F5F9"/>
          </a:solidFill>
          <a:ln cap="flat" cmpd="sng" w="25400">
            <a:solidFill>
              <a:srgbClr val="0B72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8" name="Google Shape;8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1645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26"/>
          <p:cNvSpPr/>
          <p:nvPr/>
        </p:nvSpPr>
        <p:spPr>
          <a:xfrm>
            <a:off x="731520" y="24688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2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B7285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6"/>
          <p:cNvSpPr/>
          <p:nvPr/>
        </p:nvSpPr>
        <p:spPr>
          <a:xfrm>
            <a:off x="2194560" y="16916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6"/>
          <p:cNvSpPr/>
          <p:nvPr/>
        </p:nvSpPr>
        <p:spPr>
          <a:xfrm>
            <a:off x="3063240" y="1371600"/>
            <a:ext cx="1005840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1F5F9"/>
          </a:solidFill>
          <a:ln cap="flat" cmpd="sng" w="25400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2" name="Google Shape;84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1645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6"/>
          <p:cNvSpPr/>
          <p:nvPr/>
        </p:nvSpPr>
        <p:spPr>
          <a:xfrm>
            <a:off x="2834640" y="24688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6"/>
          <p:cNvSpPr/>
          <p:nvPr/>
        </p:nvSpPr>
        <p:spPr>
          <a:xfrm>
            <a:off x="4297680" y="16916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6"/>
          <p:cNvSpPr/>
          <p:nvPr/>
        </p:nvSpPr>
        <p:spPr>
          <a:xfrm>
            <a:off x="5166360" y="1371600"/>
            <a:ext cx="1005840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1F5F9"/>
          </a:solidFill>
          <a:ln cap="flat" cmpd="sng" w="25400">
            <a:solidFill>
              <a:srgbClr val="087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6" name="Google Shape;84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680" y="1645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26"/>
          <p:cNvSpPr/>
          <p:nvPr/>
        </p:nvSpPr>
        <p:spPr>
          <a:xfrm>
            <a:off x="4937760" y="24688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7F5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87F5B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6"/>
          <p:cNvSpPr/>
          <p:nvPr/>
        </p:nvSpPr>
        <p:spPr>
          <a:xfrm>
            <a:off x="6400800" y="16916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6"/>
          <p:cNvSpPr/>
          <p:nvPr/>
        </p:nvSpPr>
        <p:spPr>
          <a:xfrm>
            <a:off x="7269480" y="1371600"/>
            <a:ext cx="1005840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1F5F9"/>
          </a:solidFill>
          <a:ln cap="flat" cmpd="sng" w="25400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0" name="Google Shape;85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3800" y="1645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26"/>
          <p:cNvSpPr/>
          <p:nvPr/>
        </p:nvSpPr>
        <p:spPr>
          <a:xfrm>
            <a:off x="7040880" y="24688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BETTER MOBILITY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6"/>
          <p:cNvSpPr/>
          <p:nvPr/>
        </p:nvSpPr>
        <p:spPr>
          <a:xfrm>
            <a:off x="1371600" y="292608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From reactive patrols to predictive intelligence.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From scattered data to unified command.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From congestion to mobility.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6"/>
          <p:cNvSpPr/>
          <p:nvPr/>
        </p:nvSpPr>
        <p:spPr>
          <a:xfrm>
            <a:off x="4114800" y="4114800"/>
            <a:ext cx="914400" cy="1828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6"/>
          <p:cNvSpPr/>
          <p:nvPr/>
        </p:nvSpPr>
        <p:spPr>
          <a:xfrm>
            <a:off x="457200" y="489204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26 / 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7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7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1A1A2E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7"/>
          <p:cNvSpPr/>
          <p:nvPr/>
        </p:nvSpPr>
        <p:spPr>
          <a:xfrm>
            <a:off x="4114800" y="1920240"/>
            <a:ext cx="914400" cy="27432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7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ParkPulse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7"/>
          <p:cNvSpPr/>
          <p:nvPr/>
        </p:nvSpPr>
        <p:spPr>
          <a:xfrm>
            <a:off x="914400" y="2468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Transforming Parking Violations into Urban Mobility Intelligence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7"/>
          <p:cNvSpPr/>
          <p:nvPr/>
        </p:nvSpPr>
        <p:spPr>
          <a:xfrm>
            <a:off x="2286000" y="3108960"/>
            <a:ext cx="457200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7"/>
          <p:cNvSpPr/>
          <p:nvPr/>
        </p:nvSpPr>
        <p:spPr>
          <a:xfrm>
            <a:off x="2286000" y="3200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7"/>
          <p:cNvSpPr/>
          <p:nvPr/>
        </p:nvSpPr>
        <p:spPr>
          <a:xfrm>
            <a:off x="2286000" y="3474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ParkPulse AI Team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7"/>
          <p:cNvSpPr/>
          <p:nvPr/>
        </p:nvSpPr>
        <p:spPr>
          <a:xfrm>
            <a:off x="2286000" y="3794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Flipkart Grid 6.0  |  Smart City Track  |  Prototype Phase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7"/>
          <p:cNvSpPr/>
          <p:nvPr/>
        </p:nvSpPr>
        <p:spPr>
          <a:xfrm>
            <a:off x="2286000" y="4114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7"/>
          <p:cNvSpPr/>
          <p:nvPr/>
        </p:nvSpPr>
        <p:spPr>
          <a:xfrm>
            <a:off x="548640" y="4663440"/>
            <a:ext cx="80467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Data  →  Intelligence  →  Action  →  Better Mobility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2026-06-21T15:27:11Z</dcterms:created>
  <dc:creator>ParkPulse AI Team</dc:creator>
</cp:coreProperties>
</file>